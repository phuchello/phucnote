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BÀI GIẢNG CHUYÊN ĐỀ: KIẾN TRÚC MẠNG &amp; AN TOÀN THÔNG TIN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Phân Tích Giao Thức Mạng, Mã Hóa Đầu Cuối &amp; Tô-pô Doanh Nghiệp</a:t>
            </a:r>
            <a:br/>
            <a:r>
              <a:t>Khoa Công Nghệ Thông Tin — ĐHQG-HCM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1/6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011680"/>
            <a:ext cx="853409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A2536"/>
                </a:solidFill>
              </a:defRPr>
            </a:pPr>
            <a:r>
              <a:t>Mục Tiêu Học Phần &amp; Chuẩn Đầu Ra: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1. Nắm vững mô hình tham chiếu OSI 7 tầng và sự tiến hóa của giao thức TCP/IP.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2. Thiết kế topo mạng an toàn phân tách DMZ, Internal LAN và Core Services.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3. Làm chủ lý thuyết mật mã học bất đối xứng: Hàm một chiều RSA và nhóm đường cong Elliptic.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4. Lập trình ứng dụng phân tán với kết nối TLS 1.3 và tối ưu handshake 0-RTT của giao thức QUIC.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MÔ HÌNH PHÂN LỚP OSI &amp; BỘ GIAO THỨC TCP/IP HIỆN ĐẠI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So sánh kiến trúc 7 tầng lý thuyết và 4 tầng thực thi trên Internet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2/6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229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Tầng OSI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Tầng TCP/IP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Giao thức tiêu biểu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Đơn vị dữ liệu (PDU) &amp; Chức năng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7-Application, 6,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Application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HTTP/3, DNS, SSH, TLS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Data / Message — Giao diện ứng dụng người dùng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4-Transport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Transport Layer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TCP (Reliable), UDP (Fast), QUIC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Segment / Datagram — Điều khiển luồng, cổng port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3-Network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Internet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IPv4, IPv6, ICMP, BGP, OSPF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Packet — Định tuyến gói tin xuyên mạng toàn cầu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2-Data Link, 1-Phys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Network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Ethernet 802.3, Wi-Fi 802.11ax, Fiber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1E1E"/>
                          </a:solidFill>
                        </a:defRPr>
                      </a:pPr>
                      <a:r>
                        <a:t>Frame / Bits — Truyền dẫn vật lý giữa hai node kề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SƠ ĐỒ TÔ-PÔ MẠNG TRUNG TÂM DỮ LIỆU &amp; BẢO VỆ ĐA TẦNG (DMZ)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Kiến trúc Defense-in-Depth với tường lửa kép và phân vùng mạng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3/6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2011680" cy="914400"/>
          </a:xfrm>
          <a:prstGeom prst="round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INTERNET / NGOÀI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2194560" cy="914400"/>
          </a:xfrm>
          <a:prstGeom prst="round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FIREWALL BIÊN (PF)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237744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DMZ WEB / API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926080"/>
            <a:ext cx="2377440" cy="914400"/>
          </a:xfrm>
          <a:prstGeom prst="round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FIREWALL NỘI BỘ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926080"/>
            <a:ext cx="2011680" cy="914400"/>
          </a:xfrm>
          <a:prstGeom prst="roundRect">
            <a:avLst/>
          </a:prstGeom>
          <a:solidFill>
            <a:srgbClr val="1A25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INTERNAL DB /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206240"/>
            <a:ext cx="999713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A2536"/>
                </a:solidFill>
              </a:defRPr>
            </a:pPr>
            <a:r>
              <a:t>Quy Tắc Định Tuyến &amp; Cô Lập Vùng Mạng (Zero-Trust Model):</a:t>
            </a:r>
          </a:p>
          <a:p>
            <a:pPr>
              <a:defRPr sz="1050">
                <a:solidFill>
                  <a:srgbClr val="3C3C3C"/>
                </a:solidFill>
              </a:defRPr>
            </a:pPr>
            <a:r>
              <a:t>• Vùng DMZ chỉ chấp nhận kết nối HTTPS (TCP 443) từ Internet; tuyệt đối cấm DMZ chủ động kết nối vào Database.</a:t>
            </a:r>
          </a:p>
          <a:p>
            <a:pPr>
              <a:defRPr sz="1050">
                <a:solidFill>
                  <a:srgbClr val="3C3C3C"/>
                </a:solidFill>
              </a:defRPr>
            </a:pPr>
            <a:r>
              <a:t>• Firewall nội bộ chỉ cho phép các máy chủ ứng dụng đã xác thực chứng chỉ mTLS truy cập cổng PostgreSQL (TCP 5432).</a:t>
            </a:r>
          </a:p>
          <a:p>
            <a:pPr>
              <a:defRPr sz="1050">
                <a:solidFill>
                  <a:srgbClr val="3C3C3C"/>
                </a:solidFill>
              </a:defRPr>
            </a:pPr>
            <a:r>
              <a:t>• Mọi luồng quản trị phải đi qua VPN Gateway có MFA và lưu vết trên hệ thống SIEM tập trung.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NGUYÊN LÝ MÃ HÓA BẤT ĐỐI XỨNG: RSA &amp; ĐƯỜNG CONG ELIPTIC (ECC)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Cơ sở toán học của thuật toán trao đổi khóa và chữ ký điện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4/6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37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2536"/>
                </a:solidFill>
              </a:defRPr>
            </a:pPr>
            <a:r>
              <a:t>1. Hệ Mật Mã RSA (Rivest–Shamir–Adleman)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Chọn hai số nguyên tố lớn ngẫu nhiên: p, q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Tính n = p · q và phi(n) = (p - 1)(q - 1)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Chọn số mũ công khai e sao cho gcd(e, phi(n)) = 1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Tính số mũ bí mật d = e^(-1) mod phi(n)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Khóa công khai: (e, n) | Khóa bí mật: (d, n)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Mã hóa: c ≡ m^e (mod n)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Giải mã: m ≡ c^d (mod n)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Độ phức tạp dựa trên bài toán phân tích thừa số nguyên tố lớn.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49377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2. Đường Cong Elliptic (ECC / ECDSA / Ed25519)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Phương trình Weierstrass: y^2 = x^3 + a·x + b (mod p)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Phép cộng điểm trên đường cong P + Q = R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Phép nhân vô hướng: Q = k · P (k là khóa bí mật, Q là khóa công khai)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Độ an toàn dựa trên bài toán logarit rời rạc ECDLP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Ưu thế: Khóa ECC 256-bit có độ an toàn tương đương RSA 3072-bit!</a:t>
            </a:r>
          </a:p>
          <a:p>
            <a:pPr>
              <a:defRPr sz="1050">
                <a:solidFill>
                  <a:srgbClr val="282828"/>
                </a:solidFill>
              </a:defRPr>
            </a:pPr>
            <a:r>
              <a:t>• Băng thông nhỏ hơn, tính toán nhanh hơn gấp nhiều lần trên chip di động.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LẬP TRÌNH SOCKET BẢO MẬT VỚI TLS 1.3 TRONG PYTHON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Triển khai kết nối Client-Server mã hóa toàn phần sử dụng thư viện ssl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5/6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2895" cy="4206240"/>
          </a:xfrm>
          <a:prstGeom prst="rect">
            <a:avLst/>
          </a:prstGeom>
          <a:solidFill>
            <a:srgbClr val="141821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8CC864"/>
                </a:solidFill>
                <a:latin typeface="Courier New"/>
              </a:defRPr>
            </a:pPr>
            <a:r>
              <a:t># Python TLS 1.3 Client Script — Handshake &amp; Encrypted Payload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import socket, ssl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# Khởi tạo TLS Context theo chuẩn bảo mật TLS 1.3 hiện đại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context = ssl.create_default_context(ssl.Purpose.SERVER_AUTH)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context.minimum_version = ssl.TLSVersion.TLSv1_3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context.check_hostname = True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hostname = 'api.phucnote.internal'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with socket.create_connection((hostname, 443), timeout=5.0) as sock: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with context.wrap_socket(sock, server_hostname=hostname) as tls_sock: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print(f'[+] Kết nối an toàn thành công! Phiên bản: {tls_sock.version()}')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print(f'[+] Bộ thuật toán mã hóa (Cipher): {tls_sock.cipher()}')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request = f'GET /v1/notes HTTP/1.1\r\nHost: {hostname}\r\nConnection: close\r\n\r\n'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tls_sock.sendall(request.encode('utf-8'))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response = tls_sock.recv(4096)</a:t>
            </a:r>
          </a:p>
          <a:p>
            <a:pPr>
              <a:defRPr sz="950">
                <a:solidFill>
                  <a:srgbClr val="E6EBF5"/>
                </a:solidFill>
                <a:latin typeface="Courier New"/>
              </a:defRPr>
            </a:pPr>
            <a:r>
              <a:t>        print(f'[+] Nhận {len(response)} bytes phản hồi đã giải mã.')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536"/>
          </a:solidFill>
          <a:ln>
            <a:solidFill>
              <a:srgbClr val="1A2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ĐÁNH GIÁ HIỆU NĂNG GIAO THỨC &amp; ĐỘ TRỄ KẾT NỐI (BENCHMARK)</a:t>
            </a:r>
          </a:p>
          <a:p>
            <a:pPr>
              <a:defRPr sz="1100">
                <a:solidFill>
                  <a:srgbClr val="D97706"/>
                </a:solidFill>
              </a:defRPr>
            </a:pPr>
            <a:r>
              <a:t>Phân tích RTT handshake giữa TCP, TLS 1.2, TLS 1.3 và QUIC (HTTP/3)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PHUCNOTE ACADEMIC ATELIER · KHÓA HỌC AN TOÀN MẠNG 2026 · SLIDE 6/6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Giao thức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Bắt tay kết nối (Handshake)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Độ trễ RTT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Mã hóa Payload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Ưu điểm vượt trội</a:t>
                      </a:r>
                    </a:p>
                  </a:txBody>
                  <a:tcPr>
                    <a:solidFill>
                      <a:srgbClr val="1A253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TCP thuần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3-way handshake (SYN, SYN-ACK, 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1.0 RTT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Không (Plaintext)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Cổ điển, không an toàn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TCP + TLS 1.2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TCP Handshake (1 RTT) + TLS (2 RTT)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3.0 RTT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Có (AES-GCM / CBC)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Chuẩn cũ, bắt tay chậm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TCP + TLS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TCP Handshake (1 RTT) + TLS (1 RTT)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2.0 RTT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Có (ChaCha20, AES-GCM)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Bảo mật cao, giảm 1 RTT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QUIC (HTTP/3)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Combined Transport + Crypto qua UDP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1.0 RTT (0-RTT Resume)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Bắt buộc 100% mã hóa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1E1E"/>
                          </a:solidFill>
                        </a:defRPr>
                      </a:pPr>
                      <a:r>
                        <a:t>Không bị Head-of-Line blocking!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